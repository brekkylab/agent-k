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7365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C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코미나티주0.1mg/mL · 전문가용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46520" y="4736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6C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Generated from comirnaty_input.md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4920" y="-365760"/>
            <a:ext cx="4389120" cy="3566160"/>
          </a:xfrm>
          <a:prstGeom prst="arc">
            <a:avLst/>
          </a:prstGeom>
          <a:noFill/>
          <a:ln w="508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1874520"/>
            <a:ext cx="3566160" cy="2971800"/>
          </a:xfrm>
          <a:prstGeom prst="arc">
            <a:avLst/>
          </a:prstGeom>
          <a:noFill/>
          <a:ln w="63500">
            <a:solidFill>
              <a:srgbClr val="990011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594360"/>
            <a:ext cx="1234440" cy="1234440"/>
          </a:xfrm>
          <a:prstGeom prst="ellipse">
            <a:avLst/>
          </a:prstGeom>
          <a:solidFill>
            <a:srgbClr val="990011">
              <a:alpha val="94000"/>
            </a:srgbClr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3246120"/>
            <a:ext cx="475488" cy="475488"/>
          </a:xfrm>
          <a:prstGeom prst="ellipse">
            <a:avLst/>
          </a:prstGeom>
          <a:solidFill>
            <a:srgbClr val="FCF6F5">
              <a:alpha val="88000"/>
            </a:srgbClr>
          </a:solidFill>
          <a:ln w="12700">
            <a:solidFill>
              <a:srgbClr val="FCF6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4371" y="1216152"/>
            <a:ext cx="878738" cy="425196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570482"/>
            <a:ext cx="1417320" cy="3047238"/>
          </a:xfrm>
          <a:prstGeom prst="roundRect">
            <a:avLst>
              <a:gd name="adj" fmla="val 5161"/>
            </a:avLst>
          </a:prstGeom>
          <a:solidFill>
            <a:srgbClr val="FFFFFF">
              <a:alpha val="92000"/>
            </a:srgbClr>
          </a:solidFill>
          <a:ln w="1651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5946" y="2534260"/>
            <a:ext cx="1275588" cy="89291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9332" y="2690165"/>
            <a:ext cx="1048817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mg/mL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10198" y="3653942"/>
            <a:ext cx="907085" cy="240944"/>
          </a:xfrm>
          <a:prstGeom prst="arc">
            <a:avLst/>
          </a:prstGeom>
          <a:noFill/>
          <a:ln w="12700">
            <a:solidFill>
              <a:srgbClr val="2F3C7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47204" y="1868119"/>
            <a:ext cx="99212" cy="99212"/>
          </a:xfrm>
          <a:prstGeom prst="ellipse">
            <a:avLst/>
          </a:prstGeom>
          <a:solidFill>
            <a:srgbClr val="DDE3F6"/>
          </a:solidFill>
          <a:ln w="12700">
            <a:solidFill>
              <a:srgbClr val="DDE3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3547872"/>
            <a:ext cx="1450238" cy="557784"/>
          </a:xfrm>
          <a:prstGeom prst="line">
            <a:avLst/>
          </a:prstGeom>
          <a:noFill/>
          <a:ln w="26670">
            <a:solidFill>
              <a:srgbClr val="FCF6F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rot="1320000">
            <a:off x="6309726" y="3458627"/>
            <a:ext cx="401604" cy="178491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F6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전문가용 설명서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1225296"/>
            <a:ext cx="5349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코미나티주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0.1mg/mL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76656" y="26151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1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(토지나메란)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" y="3255264"/>
            <a:ext cx="100584" cy="6858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6440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성상·포장, 투여 일정, 금기사항, 이상반응, 추가 정보를 한눈에 정리한 요약 슬라이드 덱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58368" y="4160520"/>
            <a:ext cx="914400" cy="283464"/>
          </a:xfrm>
          <a:prstGeom prst="roundRect">
            <a:avLst>
              <a:gd name="adj" fmla="val 12903"/>
            </a:avLst>
          </a:prstGeom>
          <a:solidFill>
            <a:srgbClr val="455491"/>
          </a:solidFill>
          <a:ln w="12700">
            <a:solidFill>
              <a:srgbClr val="4554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224528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근육주사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719072" y="4160520"/>
            <a:ext cx="1234440" cy="283464"/>
          </a:xfrm>
          <a:prstGeom prst="roundRect">
            <a:avLst>
              <a:gd name="adj" fmla="val 12903"/>
            </a:avLst>
          </a:prstGeom>
          <a:solidFill>
            <a:srgbClr val="455491"/>
          </a:solidFill>
          <a:ln w="12700">
            <a:solidFill>
              <a:srgbClr val="45549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4224528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12세 이상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108960" y="4160520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455491"/>
          </a:solidFill>
          <a:ln w="12700">
            <a:solidFill>
              <a:srgbClr val="4554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422452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6회 다회용 바이알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성상 및 포장: 6회 다회용 바이알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6072" y="1243584"/>
            <a:ext cx="324612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3DCDD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7642" y="1490472"/>
            <a:ext cx="708660" cy="3429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776222"/>
            <a:ext cx="1143000" cy="2457450"/>
          </a:xfrm>
          <a:prstGeom prst="roundRect">
            <a:avLst>
              <a:gd name="adj" fmla="val 6400"/>
            </a:avLst>
          </a:prstGeom>
          <a:solidFill>
            <a:srgbClr val="FFFFFF">
              <a:alpha val="92000"/>
            </a:srgbClr>
          </a:solidFill>
          <a:ln w="1651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7622" y="2553462"/>
            <a:ext cx="1028700" cy="72009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9062" y="2679192"/>
            <a:ext cx="8458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mg/mL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96212" y="3456432"/>
            <a:ext cx="731520" cy="194310"/>
          </a:xfrm>
          <a:prstGeom prst="arc">
            <a:avLst/>
          </a:prstGeom>
          <a:noFill/>
          <a:ln w="12700">
            <a:solidFill>
              <a:srgbClr val="2F3C7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0572" y="2016252"/>
            <a:ext cx="80010" cy="80010"/>
          </a:xfrm>
          <a:prstGeom prst="ellipse">
            <a:avLst/>
          </a:prstGeom>
          <a:solidFill>
            <a:srgbClr val="DDE3F6"/>
          </a:solidFill>
          <a:ln w="12700">
            <a:solidFill>
              <a:srgbClr val="DDE3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3075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하얀색 내지 미백색 현탁액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60520" y="1234440"/>
            <a:ext cx="4343400" cy="71323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4173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8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제공 형태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13248" y="134416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다회용(6회) 바이알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4160520" y="2212848"/>
            <a:ext cx="1965960" cy="1417320"/>
          </a:xfrm>
          <a:prstGeom prst="rect">
            <a:avLst/>
          </a:prstGeom>
          <a:solidFill>
            <a:srgbClr val="F8ECEB"/>
          </a:solidFill>
          <a:ln w="10160">
            <a:solidFill>
              <a:srgbClr val="E9C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12848"/>
            <a:ext cx="1965960" cy="1417320"/>
          </a:xfrm>
          <a:prstGeom prst="rect">
            <a:avLst/>
          </a:prstGeom>
          <a:solidFill>
            <a:srgbClr val="DDE3F6"/>
          </a:solidFill>
          <a:ln w="10160">
            <a:solidFill>
              <a:srgbClr val="C9D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07408" y="28072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하얀색~미백색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현탁액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84848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84848" y="28072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6회 투여용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다회용 바이알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3794760" y="4279392"/>
            <a:ext cx="219456" cy="21945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2793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식별 및 보관/취급 시 성상 확인 항목으로 활용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PRIMARY SERIES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과정: 만 12세 이상, 3주 간격 2회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2542032"/>
            <a:ext cx="6446520" cy="0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51376" y="2542032"/>
            <a:ext cx="804672" cy="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69264" y="2185416"/>
            <a:ext cx="713232" cy="713232"/>
          </a:xfrm>
          <a:prstGeom prst="ellipse">
            <a:avLst/>
          </a:prstGeom>
          <a:solidFill>
            <a:srgbClr val="990011"/>
          </a:solidFill>
          <a:ln w="17780">
            <a:solidFill>
              <a:srgbClr val="9900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78808" y="2185416"/>
            <a:ext cx="713232" cy="713232"/>
          </a:xfrm>
          <a:prstGeom prst="ellipse">
            <a:avLst/>
          </a:prstGeom>
          <a:solidFill>
            <a:srgbClr val="FCF6F5"/>
          </a:solidFill>
          <a:ln w="17780">
            <a:solidFill>
              <a:srgbClr val="9900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7184" y="2185416"/>
            <a:ext cx="713232" cy="713232"/>
          </a:xfrm>
          <a:prstGeom prst="ellipse">
            <a:avLst/>
          </a:prstGeom>
          <a:solidFill>
            <a:srgbClr val="990011"/>
          </a:solidFill>
          <a:ln w="1778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865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78808" y="23865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87184" y="23865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1234440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C4C7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95160" y="1234440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C4C7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1408176"/>
            <a:ext cx="1069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근육주사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68896" y="1408176"/>
            <a:ext cx="1069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근육주사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61288" y="3200400"/>
            <a:ext cx="1010412" cy="388620"/>
          </a:xfrm>
          <a:prstGeom prst="line">
            <a:avLst/>
          </a:prstGeom>
          <a:noFill/>
          <a:ln w="26670">
            <a:solidFill>
              <a:srgbClr val="99001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rot="1320000">
            <a:off x="1021385" y="3138221"/>
            <a:ext cx="279806" cy="124358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3200400"/>
            <a:ext cx="1010412" cy="388620"/>
          </a:xfrm>
          <a:prstGeom prst="line">
            <a:avLst/>
          </a:prstGeom>
          <a:noFill/>
          <a:ln w="26670">
            <a:solidFill>
              <a:srgbClr val="99001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rot="1320000">
            <a:off x="7239305" y="3138221"/>
            <a:ext cx="279806" cy="124358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2384" y="3547872"/>
            <a:ext cx="3017520" cy="749808"/>
          </a:xfrm>
          <a:prstGeom prst="rect">
            <a:avLst/>
          </a:prstGeom>
          <a:solidFill>
            <a:srgbClr val="DDE3F6"/>
          </a:solidFill>
          <a:ln w="10160">
            <a:solidFill>
              <a:srgbClr val="C9D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3749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연령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389120" y="3675888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12세 이상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" y="437083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접종은 0.3mL로 동일하며, 3주 간격으로 2회 투여합니다.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BOOSTER DOSE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부스터 접종: 기본 과정 완료 후 6개월 시점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1874520" cy="18745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5256" y="19110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478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DC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과정 완료 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9504" y="12984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0.3mL 부스터 접종을 실시할 수 있는 대상자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907792" y="1783080"/>
            <a:ext cx="54132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6D9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88366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99339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3657600" y="1929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65세 이상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102352" y="1938528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고령층 대상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07792" y="2606040"/>
            <a:ext cx="5413248" cy="566928"/>
          </a:xfrm>
          <a:prstGeom prst="rect">
            <a:avLst/>
          </a:prstGeom>
          <a:solidFill>
            <a:srgbClr val="F8ECEB"/>
          </a:solidFill>
          <a:ln w="10160">
            <a:solidFill>
              <a:srgbClr val="E7B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70662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8163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3657600" y="2752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18~64세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102352" y="2761488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중증 코로나19 위험이 높은 대상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07792" y="3429000"/>
            <a:ext cx="54132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6D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52958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63931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3657600" y="35753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18~64세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102352" y="3584448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SARS‑CoV‑2에 빈번하게 노출되는 대상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91640" y="3355848"/>
            <a:ext cx="914400" cy="713232"/>
          </a:xfrm>
          <a:prstGeom prst="line">
            <a:avLst/>
          </a:prstGeom>
          <a:noFill/>
          <a:ln w="2794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4087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26664" y="417880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부스터 0.3mL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507992" y="4087368"/>
            <a:ext cx="13533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417880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대상자별 판단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062472" y="4087368"/>
            <a:ext cx="13533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417880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노출 위험 고려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CONTRAINDICATION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금기사항: 중증 알레르기 반응 병력 확인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6384" y="1371600"/>
            <a:ext cx="1828800" cy="1828800"/>
          </a:xfrm>
          <a:prstGeom prst="octagon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4564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투여하지 마십시오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72384" y="1353312"/>
            <a:ext cx="521208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C4C7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01568" y="169164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76936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618488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코미나티주0.1mg/mL의 성분에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90195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중증 알레르기 반응 병력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83680" y="193852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있는 사람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72384" y="2834640"/>
            <a:ext cx="5212080" cy="1188720"/>
          </a:xfrm>
          <a:prstGeom prst="rect">
            <a:avLst/>
          </a:prstGeom>
          <a:solidFill>
            <a:srgbClr val="F8ECEB"/>
          </a:solidFill>
          <a:ln w="10160">
            <a:solidFill>
              <a:srgbClr val="E7B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3054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사전 확인 포인트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38144" y="3401568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관련 알레르기 병력 확인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중증 반응 병력이 확인되면 투여 금지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ADVERSE REACTIONS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이상반응: 흔한 반응과 드문 심장 관련 반응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990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주사 부위 통증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2340864" cy="109728"/>
          </a:xfrm>
          <a:prstGeom prst="rect">
            <a:avLst/>
          </a:prstGeom>
          <a:solidFill>
            <a:srgbClr val="ECD4D6"/>
          </a:solidFill>
          <a:ln w="12700">
            <a:solidFill>
              <a:srgbClr val="ECD4D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417320"/>
            <a:ext cx="2223821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피로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2340864" cy="109728"/>
          </a:xfrm>
          <a:prstGeom prst="rect">
            <a:avLst/>
          </a:prstGeom>
          <a:solidFill>
            <a:srgbClr val="ECD4D6"/>
          </a:solidFill>
          <a:ln w="12700">
            <a:solidFill>
              <a:srgbClr val="ECD4D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920240"/>
            <a:ext cx="1825874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0487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두통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286000" y="2423160"/>
            <a:ext cx="2340864" cy="109728"/>
          </a:xfrm>
          <a:prstGeom prst="rect">
            <a:avLst/>
          </a:prstGeom>
          <a:solidFill>
            <a:srgbClr val="ECD4D6"/>
          </a:solidFill>
          <a:ln w="12700">
            <a:solidFill>
              <a:srgbClr val="ECD4D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423160"/>
            <a:ext cx="154497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0779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근육통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2340864" cy="109728"/>
          </a:xfrm>
          <a:prstGeom prst="rect">
            <a:avLst/>
          </a:prstGeom>
          <a:solidFill>
            <a:srgbClr val="ECD4D6"/>
          </a:solidFill>
          <a:ln w="12700">
            <a:solidFill>
              <a:srgbClr val="ECD4D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926080"/>
            <a:ext cx="1357701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1071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발열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286000" y="3429000"/>
            <a:ext cx="2340864" cy="109728"/>
          </a:xfrm>
          <a:prstGeom prst="rect">
            <a:avLst/>
          </a:prstGeom>
          <a:solidFill>
            <a:srgbClr val="ECD4D6"/>
          </a:solidFill>
          <a:ln w="12700">
            <a:solidFill>
              <a:srgbClr val="ECD4D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429000"/>
            <a:ext cx="1053389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932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보고된 흔한 이상반응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400507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6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텍스트 원문 기반 항목 정리(빈도 수치 아님)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49240" y="1115568"/>
            <a:ext cx="2880360" cy="1298448"/>
          </a:xfrm>
          <a:prstGeom prst="rect">
            <a:avLst/>
          </a:prstGeom>
          <a:solidFill>
            <a:srgbClr val="F8ECEB"/>
          </a:solidFill>
          <a:ln w="10160">
            <a:solidFill>
              <a:srgbClr val="E7BFC2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05272" y="1444752"/>
            <a:ext cx="502920" cy="438912"/>
          </a:xfrm>
          <a:prstGeom prst="hear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389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드물게 보고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336792" y="16824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심근염 · 심장막염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349240" y="2761488"/>
            <a:ext cx="2880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6D9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971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임상 커뮤니케이션 메시지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32735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이상반응 항목과 드문 중증 반응을 구분하여 설명하고, 필요 시 의학적 평가로 연계합니다.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983480" y="1069848"/>
            <a:ext cx="0" cy="3246120"/>
          </a:xfrm>
          <a:prstGeom prst="line">
            <a:avLst/>
          </a:prstGeom>
          <a:noFill/>
          <a:ln w="12700">
            <a:solidFill>
              <a:srgbClr val="E1C8C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05088" y="47183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6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430"/>
          </a:solidFill>
          <a:ln w="12700">
            <a:solidFill>
              <a:srgbClr val="1F243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-685800"/>
            <a:ext cx="2651760" cy="2651760"/>
          </a:xfrm>
          <a:prstGeom prst="ellipse">
            <a:avLst/>
          </a:prstGeom>
          <a:solidFill>
            <a:srgbClr val="990011">
              <a:alpha val="88000"/>
            </a:srgbClr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457200"/>
            <a:ext cx="2514600" cy="3566160"/>
          </a:xfrm>
          <a:prstGeom prst="arc">
            <a:avLst/>
          </a:prstGeom>
          <a:noFill/>
          <a:ln w="508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 정보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9D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문의 및 참고 웹사이트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1051560" y="1874520"/>
            <a:ext cx="29718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0288" y="1874520"/>
            <a:ext cx="29718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89888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웹사이트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89888" y="25603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www.comirnatyglobal.com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928616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1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전화번호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28616" y="25603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02-317-2114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4315968"/>
            <a:ext cx="9144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38912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7DC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원문: src/docx/files/comirnaty_input.md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from Markdown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코미나티주0.1mg/mL (토지나메란)</dc:title>
  <dc:subject>전문가용 설명서 요약</dc:subject>
  <dc:creator>skillAgentTest</dc:creator>
  <cp:lastModifiedBy>skillAgentTest</cp:lastModifiedBy>
  <cp:revision>1</cp:revision>
  <dcterms:created xsi:type="dcterms:W3CDTF">2026-05-13T08:11:36Z</dcterms:created>
  <dcterms:modified xsi:type="dcterms:W3CDTF">2026-05-13T08:11:36Z</dcterms:modified>
</cp:coreProperties>
</file>